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690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7149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/>
          <p:cNvSpPr/>
          <p:nvPr/>
        </p:nvSpPr>
        <p:spPr>
          <a:xfrm>
            <a:off x="0" y="-1"/>
            <a:ext cx="12191695" cy="6858001"/>
          </a:xfrm>
          <a:prstGeom prst="rect">
            <a:avLst/>
          </a:prstGeom>
          <a:blipFill dpi="0" rotWithShape="1"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914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VIH/SIDA en CDMX (2019–2023)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ysClr val="windowText" lastClr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¿Reducción real o detección tardía durante la pandemia?</a:t>
            </a:r>
            <a:endParaRPr lang="en-US" sz="2200" dirty="0">
              <a:solidFill>
                <a:sysClr val="windowText" lastClr="000000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3826472"/>
            <a:ext cx="5782121" cy="969264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97764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Preprocesamiento </a:t>
            </a:r>
            <a:r>
              <a:rPr lang="en-US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Ciencia de Datos</a:t>
            </a:r>
            <a:endParaRPr lang="en-US" dirty="0"/>
          </a:p>
          <a:p>
            <a:pPr marL="0" indent="0">
              <a:buNone/>
            </a:pPr>
            <a:r>
              <a:rPr lang="en-US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Miguel Angel López Sánchez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0241280" y="5760720"/>
            <a:ext cx="73152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0" y="5486400"/>
            <a:ext cx="365760" cy="64008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0" y="5760720"/>
            <a:ext cx="365760" cy="54864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07040" y="6309360"/>
            <a:ext cx="73152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86416" y="5705856"/>
            <a:ext cx="109728" cy="109728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17936" y="5431536"/>
            <a:ext cx="109728" cy="109728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83696" y="6071616"/>
            <a:ext cx="109728" cy="109728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52176" y="6254496"/>
            <a:ext cx="109728" cy="109728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>
          <a:xfrm>
            <a:off x="0" y="-1"/>
            <a:ext cx="12191695" cy="6858001"/>
          </a:xfrm>
          <a:prstGeom prst="rect">
            <a:avLst/>
          </a:prstGeom>
          <a:blipFill dpi="0" rotWithShape="1">
            <a:blip r:embed="rId3">
              <a:alphaModFix amt="4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4" name="Text 2"/>
          <p:cNvSpPr/>
          <p:nvPr/>
        </p:nvSpPr>
        <p:spPr>
          <a:xfrm>
            <a:off x="3305458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la pandemia (marzo 2020–junio 2021) se observaron variaciones en indicadores relacionados con VIH/SIDA en CDMX.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hipótesis a evaluar es si el descenso </a:t>
            </a:r>
            <a:r>
              <a:rPr lang="en-US" sz="16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detecciones</a:t>
            </a:r>
            <a:r>
              <a:rPr lang="en-US" sz="1600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</a:t>
            </a:r>
            <a:r>
              <a:rPr lang="en-US" sz="1600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</a:t>
            </a:r>
            <a:r>
              <a:rPr lang="en-US" sz="1600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</a:t>
            </a:r>
            <a:r>
              <a:rPr lang="en-US" sz="1600" dirty="0" err="1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debió</a:t>
            </a:r>
            <a:r>
              <a:rPr lang="en-US" sz="1600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1600" dirty="0" err="1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</a:t>
            </a:r>
            <a:r>
              <a:rPr lang="en-US" sz="1600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real de contagios o un retraso en la detección (diagnóstico tardío).</a:t>
            </a:r>
            <a:endParaRPr lang="en-US" sz="1600" dirty="0"/>
          </a:p>
        </p:txBody>
      </p:sp>
      <p:pic>
        <p:nvPicPr>
          <p:cNvPr id="25" name="Imagen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458" y="2802614"/>
            <a:ext cx="5082831" cy="358449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/>
          <p:cNvSpPr/>
          <p:nvPr/>
        </p:nvSpPr>
        <p:spPr>
          <a:xfrm>
            <a:off x="-985520" y="-1"/>
            <a:ext cx="13177215" cy="6858001"/>
          </a:xfrm>
          <a:prstGeom prst="rect">
            <a:avLst/>
          </a:prstGeom>
          <a:blipFill dpi="0" rotWithShape="1">
            <a:blip r:embed="rId3">
              <a:alphaModFix amt="4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1 — Entendimiento del negocio (CRISP-DM)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00200"/>
            <a:ext cx="1097280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74520"/>
            <a:ext cx="10424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 disminución observada durante la pandemia en indicadores asociados a VIH/SIDA en CDMX se </a:t>
            </a:r>
            <a:r>
              <a:rPr lang="en-US" sz="2000" dirty="0" err="1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</a:t>
            </a:r>
            <a:r>
              <a:rPr lang="en-US" sz="2000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deber</a:t>
            </a:r>
            <a:r>
              <a:rPr lang="en-US" sz="2000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2000" dirty="0" err="1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</a:t>
            </a:r>
            <a:r>
              <a:rPr lang="en-US" sz="2000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real de contagios o por una disminución en la detección oportuna (detecciones </a:t>
            </a:r>
            <a:r>
              <a:rPr lang="en-US" sz="20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tardías</a:t>
            </a:r>
            <a:r>
              <a:rPr lang="en-US" sz="2000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CRISP-DM — Fase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418320" y="65105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pic>
        <p:nvPicPr>
          <p:cNvPr id="1026" name="Picture 2" descr="Cuándo terminará la pandemia de la COVID-19? | Blog IL3 - U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095" y="3611879"/>
            <a:ext cx="3552825" cy="2369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🔬 Diferencia entre VIH y SIDA según las defensas (CD4) 🦠 VIH (sin SIDA) •  Las defensas llamadas CD4 están por encima de 200. • El cuerpo todavía  puede protegerse. • L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785" y="3619614"/>
            <a:ext cx="3422015" cy="2277197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/>
          <p:cNvSpPr/>
          <p:nvPr/>
        </p:nvSpPr>
        <p:spPr>
          <a:xfrm>
            <a:off x="0" y="-1"/>
            <a:ext cx="12191695" cy="6858001"/>
          </a:xfrm>
          <a:prstGeom prst="rect">
            <a:avLst/>
          </a:prstGeom>
          <a:blipFill dpi="0" rotWithShape="1">
            <a:blip r:embed="rId3">
              <a:alphaModFix amt="4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4" name="Text 2"/>
          <p:cNvSpPr/>
          <p:nvPr/>
        </p:nvSpPr>
        <p:spPr>
          <a:xfrm>
            <a:off x="2570480" y="39319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Objetivo, alcances y limitaciones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027680" y="75895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ysClr val="windowText" lastClr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hará y bajo qué restricciones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6304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63040"/>
            <a:ext cx="36576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27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31089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mensualmente (2019–2023) en CDMX la dinámica de VIH/SIDA </a:t>
            </a:r>
            <a:r>
              <a:rPr lang="en-US" sz="12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combinando</a:t>
            </a:r>
            <a:r>
              <a:rPr lang="en-US" sz="1200" dirty="0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Consultas (HGM)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Vigilancia y CD4 (CONAHCYT)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Defunciones por CIE (B20–B24)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Inferir si la caída en pandemia es consistente con reducción real o detección tardía, describiendo perfiles por sexo y edad.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46304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463040"/>
            <a:ext cx="36576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627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2057400"/>
            <a:ext cx="31089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CDMX únicamente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Moneda: mes (MM-AAAA)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Periodos: pre / pandemia / post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CIE VIH/SIDA: B20–B24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Detección tardía: CD4 &lt; 200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Indicador: promedio mensual de CD4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21040" y="1463040"/>
            <a:ext cx="32918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463040"/>
            <a:ext cx="329184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0" y="16276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0" y="2057400"/>
            <a:ext cx="2743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 vínculo a nivel individuo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Integración agregada por mes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Cobertura parcial CONAHCYT (2019–2023)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 err="1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</a:t>
            </a:r>
            <a:r>
              <a:rPr lang="en-US" sz="1400" dirty="0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400" dirty="0" err="1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</a:t>
            </a:r>
            <a:r>
              <a:rPr lang="en-US" sz="1400" dirty="0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Viral</a:t>
            </a:r>
            <a:r>
              <a:rPr lang="en-US" sz="1400" dirty="0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 smtClean="0">
              <a:solidFill>
                <a:srgbClr val="6B72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Defunciones: códigos numéricos (catálogo)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de alcance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418320" y="65105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 de datos seleccionadas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</a:t>
            </a:r>
            <a:r>
              <a:rPr lang="en-US" sz="14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400" dirty="0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</a:t>
            </a:r>
            <a:r>
              <a:rPr lang="en-US" sz="1400" dirty="0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un </a:t>
            </a:r>
            <a:r>
              <a:rPr lang="en-US" sz="1400" dirty="0" err="1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08760"/>
            <a:ext cx="10972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08760"/>
            <a:ext cx="109728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7335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CONSULTAS_OTORGADAS_HGM (</a:t>
            </a:r>
            <a:r>
              <a:rPr lang="en-US" sz="1600" b="1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General de México)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 err="1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Padecimientos</a:t>
            </a:r>
            <a:r>
              <a:rPr lang="en-US" sz="1200" dirty="0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medicos</a:t>
            </a:r>
            <a:endParaRPr lang="en-US" sz="1200" dirty="0" smtClean="0">
              <a:solidFill>
                <a:srgbClr val="6B72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dirty="0" err="1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Periodo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200" dirty="0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2019–2023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Campos: FECHA, TIPO_CONSULTA, SEXO, EDAD, UNIDAD, ESPECIALIDAD, CODIGO (B20–B24), DESCRIPCION_DIAGNOSTICO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10972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063240"/>
            <a:ext cx="109728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2783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VIH_RED_COMPLETA (CONAHCYT)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 err="1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r>
              <a:rPr lang="en-US" sz="1200" dirty="0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 </a:t>
            </a:r>
            <a:r>
              <a:rPr lang="en-US" sz="1200" dirty="0" err="1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momento</a:t>
            </a:r>
            <a:r>
              <a:rPr lang="en-US" sz="1200" dirty="0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 </a:t>
            </a:r>
            <a:r>
              <a:rPr lang="en-US" sz="1200" dirty="0" err="1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</a:t>
            </a:r>
            <a:r>
              <a:rPr lang="en-US" sz="1200" dirty="0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200" dirty="0" err="1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infección</a:t>
            </a:r>
            <a:endParaRPr lang="en-US" sz="1200" dirty="0" smtClean="0">
              <a:solidFill>
                <a:srgbClr val="6B72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dirty="0" err="1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Periodo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200" dirty="0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mid-2019–fin-2023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Campos: fecha_toma, sexo (incluye Cis/Trans), edad, seguridad_social, cd4_a, cv (pendiente), resistencia (opcional), cluster_id (opcional)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617720"/>
            <a:ext cx="10972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617720"/>
            <a:ext cx="109728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78231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</a:t>
            </a:r>
            <a:r>
              <a:rPr lang="en-US" sz="1600" b="1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REGISTRO_DEFUNCIONES (</a:t>
            </a:r>
            <a:r>
              <a:rPr lang="en-US" sz="1600" b="1" dirty="0" err="1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r>
              <a:rPr lang="en-US" sz="1600" b="1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600" b="1" dirty="0" err="1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</a:t>
            </a:r>
            <a:r>
              <a:rPr lang="en-US" sz="1600" b="1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52120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 err="1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Razones</a:t>
            </a:r>
            <a:r>
              <a:rPr lang="en-US" sz="1200" dirty="0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200" dirty="0" err="1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defunciones</a:t>
            </a:r>
            <a:r>
              <a:rPr lang="en-US" sz="1200" dirty="0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</a:t>
            </a:r>
            <a:r>
              <a:rPr lang="en-US" sz="1200" dirty="0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</a:t>
            </a:r>
            <a:r>
              <a:rPr lang="en-US" sz="1200" dirty="0" err="1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periodo</a:t>
            </a:r>
            <a:r>
              <a:rPr lang="en-US" sz="1200" dirty="0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analizado</a:t>
            </a:r>
            <a:endParaRPr lang="en-US" sz="1200" dirty="0" smtClean="0">
              <a:solidFill>
                <a:srgbClr val="6B72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dirty="0" err="1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Periodo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2019–2023 (archivos por </a:t>
            </a:r>
            <a:r>
              <a:rPr lang="en-US" sz="12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</a:t>
            </a:r>
            <a:r>
              <a:rPr lang="en-US" sz="1200" dirty="0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Campos: FECHA_OCURR, FECHA_NACIM (para edad), SEXO (1/2), CAUSA_DEF (B20–B24), ENT_REGIS/ENT_RESID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participantes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418320" y="65105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2 — Entendimiento de los datos (CRISP-DM)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canónicas y cómo aparecen en cada fuente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canónicas a estandarizar: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185272"/>
              </p:ext>
            </p:extLst>
          </p:nvPr>
        </p:nvGraphicFramePr>
        <p:xfrm>
          <a:off x="640080" y="1737360"/>
          <a:ext cx="10972800" cy="21539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 canónica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HGM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CONAHCYT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Defunciones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 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fecha_toma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FECHA_OCURR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Moneda (mes)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Derivado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Derivado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Derivado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CDMX </a:t>
                      </a:r>
                      <a:r>
                        <a:rPr lang="en-US" sz="1100" dirty="0" smtClean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</a:t>
                      </a:r>
                      <a:r>
                        <a:rPr lang="en-US" sz="1100" dirty="0" err="1" smtClean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limitante</a:t>
                      </a:r>
                      <a:r>
                        <a:rPr lang="en-US" sz="1100" baseline="0" dirty="0" smtClean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baseline="0" dirty="0" err="1" smtClean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geográfica</a:t>
                      </a:r>
                      <a:r>
                        <a:rPr lang="en-US" sz="1100" dirty="0" smtClean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PROCEDENCIA (texto)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 (texto)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 smtClean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entidad_ocurrencia</a:t>
                      </a:r>
                      <a:r>
                        <a:rPr lang="en-US" sz="1100" dirty="0" smtClean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(código)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Sexo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Masculino/Femenino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Hombre/Mujer + </a:t>
                      </a:r>
                      <a:r>
                        <a:rPr lang="en-US" sz="1100" dirty="0" err="1" smtClean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Identidad</a:t>
                      </a:r>
                      <a:r>
                        <a:rPr lang="en-US" sz="1100" baseline="0" dirty="0" smtClean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de </a:t>
                      </a:r>
                      <a:r>
                        <a:rPr lang="en-US" sz="1100" baseline="0" dirty="0" err="1" smtClean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género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 smtClean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Numérico</a:t>
                      </a:r>
                      <a:r>
                        <a:rPr lang="en-US" sz="1100" dirty="0" smtClean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1</a:t>
                      </a:r>
                      <a:r>
                        <a:rPr lang="en-US" sz="1100" baseline="0" dirty="0" smtClean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 </a:t>
                      </a:r>
                      <a:r>
                        <a:rPr lang="en-US" sz="1100" dirty="0" smtClean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FECHA_NACIM + FECHA_OCURR (si aplica)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VIH/SIDA (CIE)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CODIGO (B20–B24)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CAUSA_DEF (B20–B24)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Detección tardía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cd4_a &lt; 200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3977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Principales retos de calidad (para documentar):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429768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Estandarización de sexo (texto vs numérico; conservar Cis/Trans como atributo opcional)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Edad en defunciones: derivación y validación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parcial de CONAHCYT (meses faltantes al inicio/fin)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pendiente por aclarar escala/interpretación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CRISP-DM — Fase 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418320" y="65105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federada heterogénea — Parte 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matching: correspondencias al modelo canónico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matching: </a:t>
            </a:r>
            <a:r>
              <a:rPr lang="en-US" sz="1400" dirty="0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</a:t>
            </a:r>
            <a:r>
              <a:rPr lang="en-US" sz="1400" dirty="0" err="1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identifican</a:t>
            </a:r>
            <a:r>
              <a:rPr lang="en-US" sz="1400" dirty="0" smtClean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columnas locales semánticamente equivalentes a los atributos canónicos, antes de transformar.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23215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 canónico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HGM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CONAHCYT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Defunciones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fecha_base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fecha_toma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FECHA_OCURR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Eventos distintos; se alinean por mes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 (MM-AAAA)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Derivado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Derivado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Derivado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Moneda común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sexo_local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SEXO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sexo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SEXO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Requiere estandarización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edad_anios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EDAD o derivado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DEF puede derivarse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cie_vih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CODIGO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CAUSA_DEF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B20–B24 (incluye subcódigos)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cd4_a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cd4_a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CONAHCYT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cdmx_flag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PROCEDENCIA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entidad (código)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 requiere catálogo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→ primero se identifican equivalencias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418320" y="65105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federada heterogénea — Parte 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mapping: reglas de transformación (manual en Excel)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mapping: define transformaciones para convertir datos locales en el modelo canónico y producir agregados mensuales federados.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623774"/>
              </p:ext>
            </p:extLst>
          </p:nvPr>
        </p:nvGraphicFramePr>
        <p:xfrm>
          <a:off x="640080" y="1783080"/>
          <a:ext cx="10972800" cy="2153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Salida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Detalle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Sexo → sexo_std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HGM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SEXO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sexo_std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Masculino→Hombre; Femenino→Mujer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Sexo → sexo_std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CONAHCYT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sexo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sexo_std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Hombre/Mujer + conservar Cis/Trans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Sexo → sexo_std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SEXO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sexo_std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1→Hombre; 2→Mujer (validar)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 smtClean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VIH_Detect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HGM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CODIGO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 smtClean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vih_detect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B20–B24 (subcódigos incluidos)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 smtClean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VIH_Detect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CAUSA_DEF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 smtClean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vih_detect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B20–B24 (subcódigos incluidos)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Detección tardía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CONAHCYT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cd4_a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 smtClean="0">
                          <a:solidFill>
                            <a:srgbClr val="1F2937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detecc_tard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late_flag=1 si cd4_a&lt;200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 smtClean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Fases</a:t>
                      </a:r>
                      <a:r>
                        <a:rPr lang="en-US" sz="1100" dirty="0" smtClean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mensuales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 + flags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métricas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consultas, muestras, muertes, CD4 promedio, %CD4&lt;200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→ reglas explícitas para transformar e integrar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418320" y="65105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/>
          <p:nvPr/>
        </p:nvSpPr>
        <p:spPr>
          <a:xfrm>
            <a:off x="0" y="-1"/>
            <a:ext cx="12191695" cy="6858001"/>
          </a:xfrm>
          <a:prstGeom prst="rect">
            <a:avLst/>
          </a:prstGeom>
          <a:blipFill dpi="0" rotWithShape="1">
            <a:blip r:embed="rId3">
              <a:alphaModFix amt="4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4" name="Text 2"/>
          <p:cNvSpPr/>
          <p:nvPr/>
        </p:nvSpPr>
        <p:spPr>
          <a:xfrm>
            <a:off x="3129280" y="963677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</a:t>
            </a: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</a:t>
            </a:r>
            <a:r>
              <a:rPr lang="en-US" sz="2800" b="1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identificadas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cambian por mes las consultas VIH/SIDA (HGM), las muestras (CONAHCYT) y las defunciones (B20–B24) antes, durante y después de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pandemia</a:t>
            </a:r>
            <a:r>
              <a:rPr lang="en-US" sz="1800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</a:p>
          <a:p>
            <a:pPr marL="205740" indent="-205740">
              <a:buSzPct val="100000"/>
              <a:buChar char="•"/>
            </a:pP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¿Aumenta durante pandemia la proporción de CD4&lt;200 o disminuye el promedio mensual de CD4, sugiriendo detección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tardía</a:t>
            </a:r>
            <a:r>
              <a:rPr lang="en-US" sz="1800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</a:p>
          <a:p>
            <a:pPr marL="205740" indent="-205740">
              <a:buSzPct val="100000"/>
              <a:buChar char="•"/>
            </a:pP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¿Cambian los perfiles por sexo y grupos de edad entre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periodos</a:t>
            </a:r>
            <a:r>
              <a:rPr lang="en-US" sz="1800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</a:p>
          <a:p>
            <a:pPr marL="205740" indent="-205740">
              <a:buSzPct val="100000"/>
              <a:buChar char="•"/>
            </a:pP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 mortalidad por VIH/SIDA sigue la misma tendencia que consultas/muestras o muestra un patrón </a:t>
            </a:r>
            <a:r>
              <a:rPr lang="en-US" sz="18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distinto</a:t>
            </a:r>
            <a:r>
              <a:rPr lang="en-US" sz="1800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</a:p>
          <a:p>
            <a:pPr marL="205740" indent="-205740">
              <a:buSzPct val="100000"/>
              <a:buChar char="•"/>
            </a:pP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interpretaciones son más consistentes con los indicadores: reducción real vs detección tardía?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644652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para el reporte final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418320" y="65105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0" y="-1"/>
            <a:ext cx="12191695" cy="6858001"/>
          </a:xfrm>
          <a:prstGeom prst="rect">
            <a:avLst/>
          </a:prstGeom>
          <a:blipFill dpi="0" rotWithShape="1">
            <a:blip r:embed="rId3">
              <a:alphaModFix amt="4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7744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</a:t>
            </a:r>
            <a:r>
              <a:rPr lang="en-US" sz="5400" b="1" dirty="0" err="1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Dudas</a:t>
            </a:r>
            <a:r>
              <a:rPr lang="en-US" sz="5400" b="1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914623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0" y="-1"/>
            <a:ext cx="12191695" cy="6858001"/>
          </a:xfrm>
          <a:prstGeom prst="rect">
            <a:avLst/>
          </a:prstGeom>
          <a:blipFill dpi="0" rotWithShape="1">
            <a:blip r:embed="rId3">
              <a:alphaModFix amt="4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7744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904</Words>
  <Application>Microsoft Office PowerPoint</Application>
  <PresentationFormat>Panorámica</PresentationFormat>
  <Paragraphs>209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Gertrudis</dc:creator>
  <cp:lastModifiedBy>Miguel López</cp:lastModifiedBy>
  <cp:revision>3</cp:revision>
  <dcterms:created xsi:type="dcterms:W3CDTF">2026-02-26T10:31:53Z</dcterms:created>
  <dcterms:modified xsi:type="dcterms:W3CDTF">2026-02-26T11:05:30Z</dcterms:modified>
</cp:coreProperties>
</file>